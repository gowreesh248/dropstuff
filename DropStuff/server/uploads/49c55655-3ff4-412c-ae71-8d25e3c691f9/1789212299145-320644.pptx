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77" r:id="rId5"/>
    <p:sldId id="257" r:id="rId6"/>
    <p:sldId id="258" r:id="rId7"/>
    <p:sldId id="268" r:id="rId8"/>
    <p:sldId id="269" r:id="rId9"/>
    <p:sldId id="260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80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B78DD-8EB4-4936-865B-E8A7CBC49585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A2ED0-E91E-44FF-B9D6-74500F9AC5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9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D18215-5A9C-4348-9140-44920361738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9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8B9D3-46AE-4E9F-8366-26DF0BCBA941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45E35-EA13-413B-BBFA-C56C6CF3F6A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41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4500A-28DD-4DC4-8DD8-0751F663AC76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47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DA94B-C384-44B6-A3B5-18B6BDC81C3E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FB55C-BAAA-4A1A-A127-DA2CBD4B51E3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04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B7EDF-0A5F-4971-8EA9-23D4E00D4F7C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1610C-FE03-411F-9922-50D7EB18AF53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18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8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2505076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6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45563-08AB-4E9F-A3AA-8A3D08BF7B94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BB66-FF6E-4CC7-82A2-5711454AC699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83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C0C74-AC06-412F-AD3A-DE57DEB84B5C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E99EA-A984-4576-BAD8-99D8809167AB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63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11416-1B7F-4D80-BA16-8A6DE4E52626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80436-A541-406D-8332-DD0A52D651CC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9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83D8B-3C85-4A0C-BBA6-49EC44AC079B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78533-F691-416E-B335-93F00E9C9295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12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2" y="987428"/>
            <a:ext cx="4629151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6C2BA-4743-4FD5-AE96-8FB05035F2AF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493D6-6E41-4ADF-91AA-E116496B6708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D1CF-AED7-4AE3-A011-7E485AFF38B0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68DCE-D5D7-47D0-BACE-0CE98FA3EB58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58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C3575-812A-47E8-9B75-D04981193806}" type="datetime3">
              <a:rPr lang="en-US" altLang="en-US" smtClean="0">
                <a:solidFill>
                  <a:prstClr val="white"/>
                </a:solidFill>
              </a:rPr>
              <a:pPr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31249-17BB-4C8C-BC41-BAA474084B4E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7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-15875" y="6337300"/>
            <a:ext cx="9159875" cy="5207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464300"/>
            <a:ext cx="20574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smtClean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eaLnBrk="0" hangingPunct="0">
              <a:defRPr/>
            </a:pPr>
            <a:fld id="{88786A36-5474-41DE-B1C6-6123FE795CE0}" type="datetime3">
              <a:rPr lang="en-US" altLang="en-US">
                <a:solidFill>
                  <a:prstClr val="white"/>
                </a:solidFill>
              </a:rPr>
              <a:pPr eaLnBrk="0" hangingPunct="0">
                <a:defRPr/>
              </a:pPr>
              <a:t>20 June 2024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64300"/>
            <a:ext cx="30861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0" smtClean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eaLnBrk="0" hangingPunct="0">
              <a:defRPr/>
            </a:pPr>
            <a:r>
              <a:rPr lang="en-US" altLang="en-US">
                <a:solidFill>
                  <a:prstClr val="white"/>
                </a:solidFill>
              </a:rPr>
              <a:t> Agile software development</a:t>
            </a: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464300"/>
            <a:ext cx="1014413" cy="268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eaLnBrk="0" hangingPunct="0">
              <a:defRPr/>
            </a:pPr>
            <a:fld id="{B78AF256-75A5-4EEE-B566-2B294ECA6FC5}" type="slidenum">
              <a:rPr lang="en-GB" altLang="en-US" smtClean="0">
                <a:solidFill>
                  <a:prstClr val="white"/>
                </a:solidFill>
              </a:rPr>
              <a:pPr eaLnBrk="0" hangingPunct="0">
                <a:defRPr/>
              </a:pPr>
              <a:t>‹#›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pic>
        <p:nvPicPr>
          <p:cNvPr id="1032" name="Picture 3" descr="MCET emblem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43863" y="66675"/>
            <a:ext cx="10096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>
          <a:xfrm>
            <a:off x="-15875" y="6464300"/>
            <a:ext cx="9159875" cy="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2" descr="NIA Educational Institutions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53375" y="6335713"/>
            <a:ext cx="110013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729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548235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548235"/>
          </a:solidFill>
          <a:latin typeface="Verdana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2286000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/>
              <a:t>Software Engineering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Module 1 -Extreme </a:t>
            </a:r>
            <a:r>
              <a:rPr lang="en-US" sz="3600" b="1" dirty="0"/>
              <a:t>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5638800"/>
            <a:ext cx="354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Dr.A.P.Janani</a:t>
            </a:r>
            <a:r>
              <a:rPr lang="en-US" sz="2400" b="1" dirty="0">
                <a:solidFill>
                  <a:srgbClr val="FF0000"/>
                </a:solidFill>
              </a:rPr>
              <a:t>, ASP/IT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0D65-008C-4B3C-B722-E9525D32C5B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5"/>
            <a:ext cx="7886700" cy="1549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987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16"/>
    </mc:Choice>
    <mc:Fallback xmlns="">
      <p:transition spd="slow" advTm="1431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Extreme Programming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562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Suitable for object oriented projects.</a:t>
            </a:r>
          </a:p>
          <a:p>
            <a:r>
              <a:rPr lang="en-US" b="1" dirty="0">
                <a:solidFill>
                  <a:srgbClr val="FF0000"/>
                </a:solidFill>
              </a:rPr>
              <a:t>The methodology is based upon five underlying values: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b="1" dirty="0" smtClean="0"/>
              <a:t>Communication</a:t>
            </a:r>
            <a:endParaRPr lang="en-US" b="1" dirty="0"/>
          </a:p>
          <a:p>
            <a:pPr lvl="1">
              <a:buFont typeface="Wingdings" pitchFamily="2" charset="2"/>
              <a:buChar char="Ø"/>
            </a:pPr>
            <a:r>
              <a:rPr lang="en-US" b="1" dirty="0" smtClean="0"/>
              <a:t> Simplicity 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smtClean="0"/>
              <a:t> Feedback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smtClean="0"/>
              <a:t>Courage </a:t>
            </a:r>
            <a:r>
              <a:rPr lang="en-US" b="1" dirty="0"/>
              <a:t>and </a:t>
            </a:r>
            <a:r>
              <a:rPr lang="en-US" b="1" dirty="0" smtClean="0"/>
              <a:t>respect.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Communication: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B0F0"/>
                </a:solidFill>
              </a:rPr>
              <a:t>Culture of oral communication among stake holders.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</a:rPr>
              <a:t>Communicating important </a:t>
            </a:r>
            <a:r>
              <a:rPr lang="en-US" b="1" dirty="0">
                <a:solidFill>
                  <a:srgbClr val="FF0000"/>
                </a:solidFill>
              </a:rPr>
              <a:t>concepts, continuous feedback, and the avoidance of voluminous </a:t>
            </a:r>
            <a:r>
              <a:rPr lang="en-US" b="1" dirty="0" smtClean="0">
                <a:solidFill>
                  <a:srgbClr val="FF0000"/>
                </a:solidFill>
              </a:rPr>
              <a:t>documentation as a communication medium.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60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92"/>
    </mc:Choice>
    <mc:Fallback xmlns="">
      <p:transition spd="slow" advTm="44792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marL="0" indent="0"/>
            <a:r>
              <a:rPr lang="en-US" b="1" dirty="0"/>
              <a:t>Extreme </a:t>
            </a:r>
            <a:r>
              <a:rPr lang="en-US" b="1" dirty="0" smtClean="0"/>
              <a:t>Programming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Simplicity: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Ø"/>
            </a:pPr>
            <a:r>
              <a:rPr lang="en-US" b="1" dirty="0"/>
              <a:t>To achieve simplicity, XP restricts developers to design only for immediate needs ,rather than consider future needs. 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Ø"/>
            </a:pPr>
            <a:r>
              <a:rPr lang="en-US" b="1" dirty="0"/>
              <a:t>The intent is to create a simple design that can </a:t>
            </a:r>
            <a:r>
              <a:rPr lang="en-US" b="1" dirty="0" smtClean="0"/>
              <a:t>be easily </a:t>
            </a:r>
            <a:r>
              <a:rPr lang="en-US" b="1" dirty="0"/>
              <a:t>implemented in </a:t>
            </a:r>
            <a:r>
              <a:rPr lang="en-US" b="1" dirty="0" smtClean="0"/>
              <a:t>code. </a:t>
            </a:r>
            <a:r>
              <a:rPr lang="en-US" b="1" dirty="0"/>
              <a:t>If the design must </a:t>
            </a:r>
            <a:r>
              <a:rPr lang="en-US" b="1" dirty="0" smtClean="0"/>
              <a:t>be improved</a:t>
            </a:r>
            <a:r>
              <a:rPr lang="en-US" b="1" dirty="0"/>
              <a:t>, it can be </a:t>
            </a:r>
            <a:r>
              <a:rPr lang="en-US" b="1" dirty="0" smtClean="0"/>
              <a:t>refactored at a </a:t>
            </a:r>
            <a:r>
              <a:rPr lang="en-US" b="1" dirty="0"/>
              <a:t>later time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64300"/>
            <a:ext cx="3086100" cy="3937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  <a:p>
            <a:pPr>
              <a:defRPr/>
            </a:pPr>
            <a:endParaRPr lang="en-GB" alt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3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65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35"/>
    </mc:Choice>
    <mc:Fallback xmlns="">
      <p:transition spd="slow" advTm="2903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7886700" cy="762000"/>
          </a:xfrm>
        </p:spPr>
        <p:txBody>
          <a:bodyPr/>
          <a:lstStyle/>
          <a:p>
            <a:r>
              <a:rPr lang="en-US" b="1" dirty="0"/>
              <a:t>Extreme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886700" cy="5486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Feedback:</a:t>
            </a:r>
          </a:p>
          <a:p>
            <a:pPr algn="just"/>
            <a:r>
              <a:rPr lang="en-US" sz="2000" i="1" dirty="0" smtClean="0">
                <a:solidFill>
                  <a:srgbClr val="FF0000"/>
                </a:solidFill>
              </a:rPr>
              <a:t>Feedback </a:t>
            </a:r>
            <a:r>
              <a:rPr lang="en-US" sz="2000" dirty="0" smtClean="0">
                <a:solidFill>
                  <a:srgbClr val="FF0000"/>
                </a:solidFill>
              </a:rPr>
              <a:t>is derived from three sources:  </a:t>
            </a:r>
            <a:r>
              <a:rPr lang="en-US" sz="2000" dirty="0">
                <a:solidFill>
                  <a:srgbClr val="FF0000"/>
                </a:solidFill>
              </a:rPr>
              <a:t>I</a:t>
            </a:r>
            <a:r>
              <a:rPr lang="en-US" sz="2000" dirty="0" smtClean="0">
                <a:solidFill>
                  <a:srgbClr val="FF0000"/>
                </a:solidFill>
              </a:rPr>
              <a:t>mplemented software itself, the customer, and other software team members.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 algn="just"/>
            <a:r>
              <a:rPr lang="en-US" sz="2000" dirty="0" smtClean="0">
                <a:solidFill>
                  <a:srgbClr val="00B0F0"/>
                </a:solidFill>
              </a:rPr>
              <a:t>XP makes use of the </a:t>
            </a:r>
            <a:r>
              <a:rPr lang="en-US" sz="2000" b="1" i="1" dirty="0" smtClean="0">
                <a:solidFill>
                  <a:srgbClr val="00B0F0"/>
                </a:solidFill>
              </a:rPr>
              <a:t>unit test </a:t>
            </a:r>
            <a:r>
              <a:rPr lang="en-US" sz="2000" dirty="0" smtClean="0">
                <a:solidFill>
                  <a:srgbClr val="00B0F0"/>
                </a:solidFill>
              </a:rPr>
              <a:t>as its primary testing tactic.</a:t>
            </a:r>
          </a:p>
          <a:p>
            <a:pPr algn="just"/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50"/>
                </a:solidFill>
              </a:rPr>
              <a:t>As each class is developed, the team develops a unit test to exercise each operation according to its specified functionality. 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As an increment is delivered to a customer, the </a:t>
            </a:r>
            <a:r>
              <a:rPr lang="en-US" sz="2000" i="1" dirty="0" smtClean="0">
                <a:solidFill>
                  <a:srgbClr val="FF0000"/>
                </a:solidFill>
              </a:rPr>
              <a:t>user stories </a:t>
            </a:r>
            <a:r>
              <a:rPr lang="en-US" sz="2000" dirty="0" smtClean="0">
                <a:solidFill>
                  <a:srgbClr val="FF0000"/>
                </a:solidFill>
              </a:rPr>
              <a:t>or </a:t>
            </a:r>
            <a:r>
              <a:rPr lang="en-US" sz="2000" i="1" dirty="0" smtClean="0">
                <a:solidFill>
                  <a:srgbClr val="FF0000"/>
                </a:solidFill>
              </a:rPr>
              <a:t>use cases </a:t>
            </a:r>
            <a:r>
              <a:rPr lang="en-US" sz="2000" dirty="0" smtClean="0">
                <a:solidFill>
                  <a:srgbClr val="FF0000"/>
                </a:solidFill>
              </a:rPr>
              <a:t> are used as a basis for acceptance tests.</a:t>
            </a:r>
          </a:p>
          <a:p>
            <a:pPr algn="just"/>
            <a:r>
              <a:rPr lang="en-US" sz="2000" dirty="0" smtClean="0">
                <a:solidFill>
                  <a:srgbClr val="00B0F0"/>
                </a:solidFill>
              </a:rPr>
              <a:t>software implements the output, function, and behavior of the use case is a form of feedback.</a:t>
            </a:r>
          </a:p>
          <a:p>
            <a:pPr algn="just"/>
            <a:r>
              <a:rPr lang="en-US" sz="2000" dirty="0" smtClean="0">
                <a:solidFill>
                  <a:srgbClr val="00B050"/>
                </a:solidFill>
              </a:rPr>
              <a:t>Finally, as new requirements are derived as part of iterative planning.</a:t>
            </a:r>
          </a:p>
          <a:p>
            <a:pPr algn="just"/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T</a:t>
            </a:r>
            <a:r>
              <a:rPr lang="en-US" sz="2000" dirty="0" smtClean="0">
                <a:solidFill>
                  <a:srgbClr val="00B050"/>
                </a:solidFill>
              </a:rPr>
              <a:t>he team provides </a:t>
            </a:r>
            <a:r>
              <a:rPr lang="en-US" sz="2000" dirty="0">
                <a:solidFill>
                  <a:srgbClr val="00B050"/>
                </a:solidFill>
              </a:rPr>
              <a:t>rapid feedback </a:t>
            </a:r>
            <a:r>
              <a:rPr lang="en-US" sz="2000" dirty="0" smtClean="0">
                <a:solidFill>
                  <a:srgbClr val="00B050"/>
                </a:solidFill>
              </a:rPr>
              <a:t>to customer regarding cost and schedule .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The development team obtains feedback from the customers at the end of each iteration and external release.</a:t>
            </a:r>
          </a:p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 dirty="0" smtClean="0"/>
              <a:t>.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1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068"/>
    </mc:Choice>
    <mc:Fallback xmlns="">
      <p:transition spd="slow" advTm="98068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Extreme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Courage and Respect</a:t>
            </a:r>
          </a:p>
          <a:p>
            <a:pPr algn="just"/>
            <a:r>
              <a:rPr lang="en-US" dirty="0"/>
              <a:t>An agile XP team must have the discipline (courage) </a:t>
            </a:r>
            <a:r>
              <a:rPr lang="en-US" dirty="0">
                <a:solidFill>
                  <a:srgbClr val="FF0000"/>
                </a:solidFill>
              </a:rPr>
              <a:t>to design for today, recognizing that future requirements .</a:t>
            </a:r>
          </a:p>
          <a:p>
            <a:pPr algn="just"/>
            <a:r>
              <a:rPr lang="en-US" dirty="0"/>
              <a:t> Demanding </a:t>
            </a:r>
            <a:r>
              <a:rPr lang="en-US" dirty="0">
                <a:solidFill>
                  <a:srgbClr val="00B0F0"/>
                </a:solidFill>
              </a:rPr>
              <a:t>substantial rework of the design and implemented code.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15"/>
    </mc:Choice>
    <mc:Fallback xmlns="">
      <p:transition spd="slow" advTm="2561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533400"/>
          </a:xfrm>
        </p:spPr>
        <p:txBody>
          <a:bodyPr/>
          <a:lstStyle/>
          <a:p>
            <a:pPr algn="ctr"/>
            <a:r>
              <a:rPr lang="en-US" b="1" dirty="0"/>
              <a:t>Extreme Programming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600825"/>
            <a:ext cx="3086100" cy="257175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GB" altLang="en-US" dirty="0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609600"/>
            <a:ext cx="7430666" cy="571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943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40"/>
    </mc:Choice>
    <mc:Fallback xmlns="">
      <p:transition spd="slow" advTm="1604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77875"/>
          </a:xfrm>
        </p:spPr>
        <p:txBody>
          <a:bodyPr/>
          <a:lstStyle/>
          <a:p>
            <a:r>
              <a:rPr lang="en-US" dirty="0" smtClean="0"/>
              <a:t>Planning…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886700" cy="5257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•  </a:t>
            </a:r>
            <a:r>
              <a:rPr lang="en-US" sz="2000" dirty="0" smtClean="0">
                <a:solidFill>
                  <a:srgbClr val="FF0000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planning activity begins with listening a requirements gathering activity that enables the technical members of the XP team to understand required output and major features and functionality. </a:t>
            </a:r>
          </a:p>
          <a:p>
            <a:pPr marL="0" indent="0" algn="just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•     </a:t>
            </a:r>
            <a:r>
              <a:rPr lang="en-US" sz="2000" dirty="0">
                <a:solidFill>
                  <a:srgbClr val="0070C0"/>
                </a:solidFill>
              </a:rPr>
              <a:t>C</a:t>
            </a:r>
            <a:r>
              <a:rPr lang="en-US" sz="2000" dirty="0" smtClean="0">
                <a:solidFill>
                  <a:srgbClr val="0070C0"/>
                </a:solidFill>
              </a:rPr>
              <a:t>reation </a:t>
            </a:r>
            <a:r>
              <a:rPr lang="en-US" sz="2000" dirty="0">
                <a:solidFill>
                  <a:srgbClr val="0070C0"/>
                </a:solidFill>
              </a:rPr>
              <a:t>of a set of “stories” (also called user stories) that describe required output, features, and functionality for software to be built. </a:t>
            </a:r>
          </a:p>
          <a:p>
            <a:pPr marL="0" indent="0" algn="just">
              <a:buNone/>
            </a:pPr>
            <a:r>
              <a:rPr lang="en-US" sz="2000" dirty="0" smtClean="0"/>
              <a:t>•    </a:t>
            </a:r>
            <a:r>
              <a:rPr lang="en-US" sz="2000" dirty="0" smtClean="0">
                <a:solidFill>
                  <a:srgbClr val="00B050"/>
                </a:solidFill>
              </a:rPr>
              <a:t>Each </a:t>
            </a:r>
            <a:r>
              <a:rPr lang="en-US" sz="2000" dirty="0">
                <a:solidFill>
                  <a:srgbClr val="00B050"/>
                </a:solidFill>
              </a:rPr>
              <a:t>story is written by the customer and is placed on an index card.</a:t>
            </a:r>
          </a:p>
          <a:p>
            <a:pPr marL="0" indent="0" algn="just">
              <a:buNone/>
            </a:pPr>
            <a:r>
              <a:rPr lang="en-US" sz="2000" dirty="0" smtClean="0"/>
              <a:t>•  </a:t>
            </a:r>
            <a:r>
              <a:rPr lang="en-US" sz="2000" dirty="0" smtClean="0">
                <a:solidFill>
                  <a:srgbClr val="FF0000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customer assigns a value (i.e., a priority) to the story based on the overall business value of the feature or function.</a:t>
            </a:r>
          </a:p>
          <a:p>
            <a:pPr marL="0" indent="0" algn="just">
              <a:buNone/>
            </a:pPr>
            <a:r>
              <a:rPr lang="en-US" sz="2000" dirty="0" smtClean="0"/>
              <a:t>•   </a:t>
            </a:r>
            <a:r>
              <a:rPr lang="en-US" sz="2000" dirty="0" smtClean="0">
                <a:solidFill>
                  <a:srgbClr val="0070C0"/>
                </a:solidFill>
              </a:rPr>
              <a:t>Members </a:t>
            </a:r>
            <a:r>
              <a:rPr lang="en-US" sz="2000" dirty="0">
                <a:solidFill>
                  <a:srgbClr val="0070C0"/>
                </a:solidFill>
              </a:rPr>
              <a:t>of the XP team then assess each  story and assign a </a:t>
            </a:r>
            <a:r>
              <a:rPr lang="en-US" sz="2000" dirty="0" smtClean="0">
                <a:solidFill>
                  <a:srgbClr val="0070C0"/>
                </a:solidFill>
              </a:rPr>
              <a:t>cost to </a:t>
            </a:r>
            <a:r>
              <a:rPr lang="en-US" sz="2000" dirty="0">
                <a:solidFill>
                  <a:srgbClr val="0070C0"/>
                </a:solidFill>
              </a:rPr>
              <a:t>it. </a:t>
            </a:r>
          </a:p>
          <a:p>
            <a:pPr marL="0" indent="0" algn="just">
              <a:buNone/>
            </a:pPr>
            <a:r>
              <a:rPr lang="en-US" sz="2000" dirty="0" smtClean="0"/>
              <a:t>•  </a:t>
            </a:r>
            <a:r>
              <a:rPr lang="en-US" sz="2000" dirty="0">
                <a:solidFill>
                  <a:srgbClr val="00B050"/>
                </a:solidFill>
              </a:rPr>
              <a:t>T</a:t>
            </a:r>
            <a:r>
              <a:rPr lang="en-US" sz="2000" dirty="0" smtClean="0">
                <a:solidFill>
                  <a:srgbClr val="00B050"/>
                </a:solidFill>
              </a:rPr>
              <a:t>he </a:t>
            </a:r>
            <a:r>
              <a:rPr lang="en-US" sz="2000" dirty="0">
                <a:solidFill>
                  <a:srgbClr val="00B050"/>
                </a:solidFill>
              </a:rPr>
              <a:t>story is estimated to require more than three development </a:t>
            </a:r>
            <a:r>
              <a:rPr lang="en-US" sz="2000" dirty="0" smtClean="0">
                <a:solidFill>
                  <a:srgbClr val="00B050"/>
                </a:solidFill>
              </a:rPr>
              <a:t>weeks.</a:t>
            </a:r>
          </a:p>
          <a:p>
            <a:pPr algn="just"/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 smtClean="0">
                <a:solidFill>
                  <a:srgbClr val="FF0000"/>
                </a:solidFill>
              </a:rPr>
              <a:t>he </a:t>
            </a:r>
            <a:r>
              <a:rPr lang="en-US" sz="2000" dirty="0">
                <a:solidFill>
                  <a:srgbClr val="FF0000"/>
                </a:solidFill>
              </a:rPr>
              <a:t>customer is asked to split the story into smaller stories and the assignment of value and cost occurs </a:t>
            </a:r>
            <a:r>
              <a:rPr lang="en-US" sz="2000" dirty="0" smtClean="0">
                <a:solidFill>
                  <a:srgbClr val="FF0000"/>
                </a:solidFill>
              </a:rPr>
              <a:t>again </a:t>
            </a:r>
            <a:r>
              <a:rPr lang="en-US" sz="2000" smtClean="0">
                <a:solidFill>
                  <a:srgbClr val="FF0000"/>
                </a:solidFill>
              </a:rPr>
              <a:t>if lengthier.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7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31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061"/>
    </mc:Choice>
    <mc:Fallback xmlns="">
      <p:transition spd="slow" advTm="9306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86700" cy="701675"/>
          </a:xfrm>
        </p:spPr>
        <p:txBody>
          <a:bodyPr/>
          <a:lstStyle/>
          <a:p>
            <a:r>
              <a:rPr lang="en-US" dirty="0"/>
              <a:t>Planning…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8867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200" dirty="0">
                <a:solidFill>
                  <a:srgbClr val="FF0000"/>
                </a:solidFill>
              </a:rPr>
              <a:t>•     </a:t>
            </a:r>
            <a:r>
              <a:rPr lang="en-US" sz="2200" dirty="0" smtClean="0">
                <a:solidFill>
                  <a:srgbClr val="FF0000"/>
                </a:solidFill>
              </a:rPr>
              <a:t>New </a:t>
            </a:r>
            <a:r>
              <a:rPr lang="en-US" sz="2200" dirty="0">
                <a:solidFill>
                  <a:srgbClr val="FF0000"/>
                </a:solidFill>
              </a:rPr>
              <a:t>stories can be written at any  time.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•   </a:t>
            </a:r>
            <a:r>
              <a:rPr lang="en-US" sz="2200" dirty="0" smtClean="0"/>
              <a:t>  </a:t>
            </a:r>
            <a:r>
              <a:rPr lang="en-US" sz="2200" dirty="0" smtClean="0">
                <a:solidFill>
                  <a:srgbClr val="0070C0"/>
                </a:solidFill>
              </a:rPr>
              <a:t>Customers </a:t>
            </a:r>
            <a:r>
              <a:rPr lang="en-US" sz="2200" dirty="0">
                <a:solidFill>
                  <a:srgbClr val="0070C0"/>
                </a:solidFill>
              </a:rPr>
              <a:t>and developers work together to decide how </a:t>
            </a:r>
            <a:r>
              <a:rPr lang="en-US" sz="2200" dirty="0" smtClean="0">
                <a:solidFill>
                  <a:srgbClr val="0070C0"/>
                </a:solidFill>
              </a:rPr>
              <a:t>to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70C0"/>
                </a:solidFill>
              </a:rPr>
              <a:t> </a:t>
            </a:r>
            <a:r>
              <a:rPr lang="en-US" sz="2200" dirty="0" smtClean="0">
                <a:solidFill>
                  <a:srgbClr val="0070C0"/>
                </a:solidFill>
              </a:rPr>
              <a:t>      group </a:t>
            </a:r>
            <a:r>
              <a:rPr lang="en-US" sz="2200" dirty="0">
                <a:solidFill>
                  <a:srgbClr val="0070C0"/>
                </a:solidFill>
              </a:rPr>
              <a:t>stories into the next release  to be developed by </a:t>
            </a:r>
            <a:r>
              <a:rPr lang="en-US" sz="2200" dirty="0" smtClean="0">
                <a:solidFill>
                  <a:srgbClr val="0070C0"/>
                </a:solidFill>
              </a:rPr>
              <a:t>the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70C0"/>
                </a:solidFill>
              </a:rPr>
              <a:t> </a:t>
            </a:r>
            <a:r>
              <a:rPr lang="en-US" sz="2200" dirty="0" smtClean="0">
                <a:solidFill>
                  <a:srgbClr val="0070C0"/>
                </a:solidFill>
              </a:rPr>
              <a:t>      XP </a:t>
            </a:r>
            <a:r>
              <a:rPr lang="en-US" sz="2200" dirty="0">
                <a:solidFill>
                  <a:srgbClr val="0070C0"/>
                </a:solidFill>
              </a:rPr>
              <a:t>team.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/>
              <a:t>   </a:t>
            </a:r>
            <a:r>
              <a:rPr lang="en-US" sz="2200" dirty="0" smtClean="0">
                <a:solidFill>
                  <a:srgbClr val="00B050"/>
                </a:solidFill>
              </a:rPr>
              <a:t>Once </a:t>
            </a:r>
            <a:r>
              <a:rPr lang="en-US" sz="2200" dirty="0">
                <a:solidFill>
                  <a:srgbClr val="00B050"/>
                </a:solidFill>
              </a:rPr>
              <a:t>a basic commitment </a:t>
            </a:r>
            <a:r>
              <a:rPr lang="en-US" sz="2200" dirty="0" smtClean="0">
                <a:solidFill>
                  <a:srgbClr val="00B050"/>
                </a:solidFill>
              </a:rPr>
              <a:t>is </a:t>
            </a:r>
            <a:r>
              <a:rPr lang="en-US" sz="2200" dirty="0">
                <a:solidFill>
                  <a:srgbClr val="00B050"/>
                </a:solidFill>
              </a:rPr>
              <a:t>made for a release, </a:t>
            </a:r>
            <a:r>
              <a:rPr lang="en-US" sz="2200" dirty="0" smtClean="0">
                <a:solidFill>
                  <a:srgbClr val="00B050"/>
                </a:solidFill>
              </a:rPr>
              <a:t>the XP team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 smtClean="0">
                <a:solidFill>
                  <a:srgbClr val="00B050"/>
                </a:solidFill>
              </a:rPr>
              <a:t>      orders </a:t>
            </a:r>
            <a:r>
              <a:rPr lang="en-US" sz="2200" dirty="0">
                <a:solidFill>
                  <a:srgbClr val="00B050"/>
                </a:solidFill>
              </a:rPr>
              <a:t>the stories that will be developed in one of </a:t>
            </a:r>
            <a:r>
              <a:rPr lang="en-US" sz="2200" dirty="0" smtClean="0">
                <a:solidFill>
                  <a:srgbClr val="00B050"/>
                </a:solidFill>
              </a:rPr>
              <a:t>three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 smtClean="0">
                <a:solidFill>
                  <a:srgbClr val="00B050"/>
                </a:solidFill>
              </a:rPr>
              <a:t>      ways</a:t>
            </a:r>
            <a:r>
              <a:rPr lang="en-US" sz="2200" dirty="0">
                <a:solidFill>
                  <a:srgbClr val="00B050"/>
                </a:solidFill>
              </a:rPr>
              <a:t>: </a:t>
            </a:r>
          </a:p>
          <a:p>
            <a:pPr marL="1143000" lvl="1" indent="-457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arenBoth"/>
            </a:pPr>
            <a:r>
              <a:rPr lang="en-US" sz="2200" dirty="0" smtClean="0">
                <a:latin typeface="Times New Roman"/>
                <a:ea typeface="Calibri"/>
                <a:cs typeface="Latha"/>
              </a:rPr>
              <a:t>All </a:t>
            </a:r>
            <a:r>
              <a:rPr lang="en-US" sz="2200" dirty="0">
                <a:latin typeface="Times New Roman"/>
                <a:ea typeface="Calibri"/>
                <a:cs typeface="Latha"/>
              </a:rPr>
              <a:t>stories will be implemented immediately </a:t>
            </a:r>
            <a:endParaRPr lang="en-US" sz="2200" dirty="0" smtClean="0">
              <a:latin typeface="Times New Roman"/>
              <a:ea typeface="Calibri"/>
              <a:cs typeface="Latha"/>
            </a:endParaRPr>
          </a:p>
          <a:p>
            <a:pPr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/>
                <a:ea typeface="Calibri"/>
                <a:cs typeface="Latha"/>
              </a:rPr>
              <a:t> </a:t>
            </a:r>
            <a:r>
              <a:rPr lang="en-US" sz="2200" dirty="0" smtClean="0">
                <a:latin typeface="Times New Roman"/>
                <a:ea typeface="Calibri"/>
                <a:cs typeface="Latha"/>
              </a:rPr>
              <a:t>     (</a:t>
            </a:r>
            <a:r>
              <a:rPr lang="en-US" sz="2200" dirty="0">
                <a:latin typeface="Times New Roman"/>
                <a:ea typeface="Calibri"/>
                <a:cs typeface="Latha"/>
              </a:rPr>
              <a:t>within a few weeks).</a:t>
            </a:r>
          </a:p>
          <a:p>
            <a:pPr lvl="1" indent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dirty="0" smtClean="0">
                <a:latin typeface="Times New Roman"/>
                <a:ea typeface="Calibri"/>
                <a:cs typeface="Latha"/>
              </a:rPr>
              <a:t>(</a:t>
            </a:r>
            <a:r>
              <a:rPr lang="en-US" sz="2200" dirty="0">
                <a:latin typeface="Times New Roman"/>
                <a:ea typeface="Calibri"/>
                <a:cs typeface="Latha"/>
              </a:rPr>
              <a:t>2) The stories with highest value will be moved up in the schedule and implemented first.</a:t>
            </a:r>
          </a:p>
          <a:p>
            <a:pPr lvl="1" indent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dirty="0">
                <a:latin typeface="Times New Roman"/>
                <a:ea typeface="Calibri"/>
                <a:cs typeface="Latha"/>
              </a:rPr>
              <a:t>(3) The riskiest stories will be moved up in the schedule and implemented first.</a:t>
            </a:r>
          </a:p>
          <a:p>
            <a:pPr marL="342900" marR="0" lvl="0" indent="-34290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Symbol"/>
              <a:buChar char=""/>
            </a:pPr>
            <a:r>
              <a:rPr lang="en-US" sz="2200" dirty="0">
                <a:solidFill>
                  <a:srgbClr val="FF0000"/>
                </a:solidFill>
                <a:latin typeface="Times New Roman"/>
                <a:ea typeface="Calibri"/>
              </a:rPr>
              <a:t>After the first project release (also called a software increment) has been delivered, the XP team computes project velocity. </a:t>
            </a:r>
          </a:p>
          <a:p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8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02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06"/>
    </mc:Choice>
    <mc:Fallback xmlns="">
      <p:transition spd="slow" advTm="60206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886700" cy="854075"/>
          </a:xfrm>
        </p:spPr>
        <p:txBody>
          <a:bodyPr/>
          <a:lstStyle/>
          <a:p>
            <a:r>
              <a:rPr lang="en-US" dirty="0"/>
              <a:t>Planning…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7886700" cy="5486400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Calibri"/>
              </a:rPr>
              <a:t>Project velocity is the number of customer stories implemented during the first release. </a:t>
            </a:r>
          </a:p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 smtClean="0">
                <a:solidFill>
                  <a:srgbClr val="0070C0"/>
                </a:solidFill>
                <a:latin typeface="Times New Roman"/>
                <a:ea typeface="Calibri"/>
              </a:rPr>
              <a:t>Project </a:t>
            </a:r>
            <a:r>
              <a:rPr lang="en-US" sz="2400" dirty="0">
                <a:solidFill>
                  <a:srgbClr val="0070C0"/>
                </a:solidFill>
                <a:latin typeface="Times New Roman"/>
                <a:ea typeface="Calibri"/>
              </a:rPr>
              <a:t>velocity can then be used </a:t>
            </a:r>
            <a:r>
              <a:rPr lang="en-US" sz="2400" dirty="0" smtClean="0">
                <a:solidFill>
                  <a:srgbClr val="0070C0"/>
                </a:solidFill>
                <a:latin typeface="Times New Roman"/>
                <a:ea typeface="Calibri"/>
              </a:rPr>
              <a:t>to</a:t>
            </a:r>
          </a:p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Times New Roman"/>
                <a:ea typeface="Calibri"/>
              </a:rPr>
              <a:t>	(1</a:t>
            </a:r>
            <a:r>
              <a:rPr lang="en-US" sz="2400" dirty="0">
                <a:latin typeface="Times New Roman"/>
                <a:ea typeface="Calibri"/>
              </a:rPr>
              <a:t>) Help estimate delivery dates and schedule </a:t>
            </a:r>
            <a:r>
              <a:rPr lang="en-US" sz="2400" dirty="0" smtClean="0">
                <a:latin typeface="Times New Roman"/>
                <a:ea typeface="Calibri"/>
              </a:rPr>
              <a:t>for</a:t>
            </a:r>
          </a:p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</a:rPr>
              <a:t> </a:t>
            </a:r>
            <a:r>
              <a:rPr lang="en-US" sz="2400" dirty="0" smtClean="0">
                <a:latin typeface="Times New Roman"/>
                <a:ea typeface="Calibri"/>
              </a:rPr>
              <a:t>                subsequent </a:t>
            </a:r>
            <a:r>
              <a:rPr lang="en-US" sz="2400" dirty="0">
                <a:latin typeface="Times New Roman"/>
                <a:ea typeface="Calibri"/>
              </a:rPr>
              <a:t>releases.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  <a:cs typeface="Latha"/>
              </a:rPr>
              <a:t>          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(2)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Determine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whether an over commitment has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been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               made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for all stories   across the entire development </a:t>
            </a:r>
            <a:endParaRPr lang="en-US" sz="2400" dirty="0" smtClean="0">
              <a:latin typeface="Times New Roman"/>
              <a:ea typeface="Calibri"/>
              <a:cs typeface="Latha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               project. If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an over commitment occurs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, the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content </a:t>
            </a:r>
            <a:endParaRPr lang="en-US" sz="2400" dirty="0" smtClean="0">
              <a:latin typeface="Times New Roman"/>
              <a:ea typeface="Calibri"/>
              <a:cs typeface="Latha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             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of </a:t>
            </a:r>
            <a:r>
              <a:rPr lang="en-US" sz="2400" dirty="0">
                <a:latin typeface="Times New Roman"/>
                <a:ea typeface="Calibri"/>
                <a:cs typeface="Latha"/>
              </a:rPr>
              <a:t>releases  is modified or end delivery dates are </a:t>
            </a:r>
            <a:endParaRPr lang="en-US" sz="2400" dirty="0" smtClean="0">
              <a:latin typeface="Times New Roman"/>
              <a:ea typeface="Calibri"/>
              <a:cs typeface="Latha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Calibri"/>
                <a:cs typeface="Latha"/>
              </a:rPr>
              <a:t> </a:t>
            </a:r>
            <a:r>
              <a:rPr lang="en-US" sz="2400" dirty="0" smtClean="0">
                <a:latin typeface="Times New Roman"/>
                <a:ea typeface="Calibri"/>
                <a:cs typeface="Latha"/>
              </a:rPr>
              <a:t>               changed</a:t>
            </a:r>
            <a:r>
              <a:rPr lang="en-US" sz="2400" dirty="0">
                <a:latin typeface="Times New Roman"/>
                <a:ea typeface="Calibri"/>
                <a:cs typeface="Latha"/>
              </a:rPr>
              <a:t>.</a:t>
            </a:r>
          </a:p>
          <a:p>
            <a:pPr marL="342900" marR="0" lvl="0" indent="-34290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50"/>
                </a:solidFill>
                <a:latin typeface="Times New Roman"/>
                <a:ea typeface="Calibri"/>
              </a:rPr>
              <a:t>As development work proceeds, the customer can add stories, change the </a:t>
            </a:r>
            <a:r>
              <a:rPr lang="en-US" sz="2400" dirty="0" smtClean="0">
                <a:solidFill>
                  <a:srgbClr val="00B050"/>
                </a:solidFill>
                <a:latin typeface="Times New Roman"/>
                <a:ea typeface="Calibri"/>
              </a:rPr>
              <a:t>value </a:t>
            </a:r>
            <a:r>
              <a:rPr lang="en-US" sz="2400" dirty="0" smtClean="0">
                <a:solidFill>
                  <a:srgbClr val="00B050"/>
                </a:solidFill>
                <a:latin typeface="Times New Roman"/>
                <a:ea typeface="Calibri"/>
                <a:cs typeface="Latha"/>
              </a:rPr>
              <a:t>of </a:t>
            </a:r>
            <a:r>
              <a:rPr lang="en-US" sz="2400" dirty="0">
                <a:solidFill>
                  <a:srgbClr val="00B050"/>
                </a:solidFill>
                <a:latin typeface="Times New Roman"/>
                <a:ea typeface="Calibri"/>
                <a:cs typeface="Latha"/>
              </a:rPr>
              <a:t>an existing story, split stories, or eliminate them. </a:t>
            </a:r>
            <a:endParaRPr lang="en-US" sz="2400" dirty="0" smtClean="0">
              <a:solidFill>
                <a:srgbClr val="00B050"/>
              </a:solidFill>
              <a:latin typeface="Times New Roman"/>
              <a:ea typeface="Calibri"/>
              <a:cs typeface="Latha"/>
            </a:endParaRPr>
          </a:p>
          <a:p>
            <a:pPr marL="342900" marR="0" lvl="0" indent="-34290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 smtClean="0">
                <a:solidFill>
                  <a:srgbClr val="FF0000"/>
                </a:solidFill>
                <a:latin typeface="Times New Roman"/>
                <a:ea typeface="Calibri"/>
                <a:cs typeface="Latha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Calibri"/>
                <a:cs typeface="Latha"/>
              </a:rPr>
              <a:t>XP team then reconsiders </a:t>
            </a:r>
            <a:r>
              <a:rPr lang="en-US" sz="2400" dirty="0" smtClean="0">
                <a:solidFill>
                  <a:srgbClr val="FF0000"/>
                </a:solidFill>
                <a:latin typeface="Times New Roman"/>
                <a:ea typeface="Calibri"/>
                <a:cs typeface="Latha"/>
              </a:rPr>
              <a:t>all remaining </a:t>
            </a:r>
            <a:r>
              <a:rPr lang="en-US" sz="2400" dirty="0">
                <a:solidFill>
                  <a:srgbClr val="FF0000"/>
                </a:solidFill>
                <a:latin typeface="Times New Roman"/>
                <a:ea typeface="Calibri"/>
                <a:cs typeface="Latha"/>
              </a:rPr>
              <a:t>releases and modifies its plans accordingly.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9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30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57"/>
    </mc:Choice>
    <mc:Fallback xmlns="">
      <p:transition spd="slow" advTm="5305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86700" cy="777875"/>
          </a:xfrm>
        </p:spPr>
        <p:txBody>
          <a:bodyPr/>
          <a:lstStyle/>
          <a:p>
            <a:r>
              <a:rPr lang="en-US" dirty="0" smtClean="0"/>
              <a:t>Design…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886700" cy="5486400"/>
          </a:xfrm>
        </p:spPr>
        <p:txBody>
          <a:bodyPr/>
          <a:lstStyle/>
          <a:p>
            <a:pPr lvl="0" algn="just"/>
            <a:r>
              <a:rPr lang="en-US" sz="2700" dirty="0">
                <a:solidFill>
                  <a:srgbClr val="FF0000"/>
                </a:solidFill>
              </a:rPr>
              <a:t>XP design rigorously follows the KIS (keep it simple) principle. </a:t>
            </a:r>
          </a:p>
          <a:p>
            <a:pPr lvl="0" algn="just"/>
            <a:r>
              <a:rPr lang="en-US" sz="2700" dirty="0" smtClean="0">
                <a:solidFill>
                  <a:srgbClr val="0070C0"/>
                </a:solidFill>
              </a:rPr>
              <a:t>XP </a:t>
            </a:r>
            <a:r>
              <a:rPr lang="en-US" sz="2700" dirty="0">
                <a:solidFill>
                  <a:srgbClr val="0070C0"/>
                </a:solidFill>
              </a:rPr>
              <a:t>encourages the use of CRC cards as an effective mechanism for thinking about the software in an object-oriented context. </a:t>
            </a:r>
          </a:p>
          <a:p>
            <a:pPr lvl="0" algn="just"/>
            <a:r>
              <a:rPr lang="en-US" sz="2700" dirty="0">
                <a:solidFill>
                  <a:srgbClr val="00B050"/>
                </a:solidFill>
              </a:rPr>
              <a:t>CRC (class-responsibility-collaborator) cards identify and organize the object-oriented classes that are relevant to the current software increment. </a:t>
            </a:r>
          </a:p>
          <a:p>
            <a:pPr lvl="0" algn="just"/>
            <a:r>
              <a:rPr lang="en-US" sz="2700" dirty="0">
                <a:solidFill>
                  <a:srgbClr val="FF0000"/>
                </a:solidFill>
              </a:rPr>
              <a:t>The CRC cards are the only design work product produced as part of the XP process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10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46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492"/>
    </mc:Choice>
    <mc:Fallback xmlns="">
      <p:transition spd="slow" advTm="42492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90"/>
            <a:ext cx="7886700" cy="1325563"/>
          </a:xfrm>
        </p:spPr>
        <p:txBody>
          <a:bodyPr/>
          <a:lstStyle/>
          <a:p>
            <a:r>
              <a:rPr lang="en-US" dirty="0"/>
              <a:t>Design…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886700" cy="5410200"/>
          </a:xfrm>
        </p:spPr>
        <p:txBody>
          <a:bodyPr/>
          <a:lstStyle/>
          <a:p>
            <a:pPr lvl="0" algn="just"/>
            <a:r>
              <a:rPr lang="en-US" dirty="0">
                <a:solidFill>
                  <a:srgbClr val="FF0000"/>
                </a:solidFill>
              </a:rPr>
              <a:t>If a difficult design problem is encountered as part of the design of a story, XP recommends the immediate creation of an </a:t>
            </a:r>
            <a:r>
              <a:rPr lang="en-US" b="1" dirty="0">
                <a:solidFill>
                  <a:srgbClr val="FF0000"/>
                </a:solidFill>
              </a:rPr>
              <a:t>operational prototype of that portion of the </a:t>
            </a:r>
            <a:r>
              <a:rPr lang="en-US" b="1" dirty="0" smtClean="0">
                <a:solidFill>
                  <a:srgbClr val="FF0000"/>
                </a:solidFill>
              </a:rPr>
              <a:t>design</a:t>
            </a:r>
            <a:r>
              <a:rPr lang="en-US" dirty="0" smtClean="0">
                <a:solidFill>
                  <a:srgbClr val="FF0000"/>
                </a:solidFill>
              </a:rPr>
              <a:t>, called </a:t>
            </a:r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spike solution</a:t>
            </a:r>
            <a:r>
              <a:rPr lang="en-US" dirty="0">
                <a:solidFill>
                  <a:srgbClr val="FF0000"/>
                </a:solidFill>
              </a:rPr>
              <a:t>, the design prototype is implemented and evaluated.</a:t>
            </a:r>
          </a:p>
          <a:p>
            <a:pPr lvl="0" algn="just"/>
            <a:r>
              <a:rPr lang="en-US" dirty="0" smtClean="0">
                <a:solidFill>
                  <a:srgbClr val="0070C0"/>
                </a:solidFill>
              </a:rPr>
              <a:t>XP encourages </a:t>
            </a:r>
            <a:r>
              <a:rPr lang="en-US" dirty="0">
                <a:solidFill>
                  <a:srgbClr val="0070C0"/>
                </a:solidFill>
              </a:rPr>
              <a:t>refactoring—a construction technique that is also a method for design optimization. </a:t>
            </a:r>
          </a:p>
          <a:p>
            <a:pPr lvl="0" algn="just"/>
            <a:r>
              <a:rPr lang="en-US" dirty="0">
                <a:solidFill>
                  <a:srgbClr val="00B050"/>
                </a:solidFill>
              </a:rPr>
              <a:t>Refactoring is the process of changing a software system in such a way that it does </a:t>
            </a:r>
            <a:r>
              <a:rPr lang="en-US" dirty="0" smtClean="0">
                <a:solidFill>
                  <a:srgbClr val="00B050"/>
                </a:solidFill>
              </a:rPr>
              <a:t>not alter </a:t>
            </a:r>
            <a:r>
              <a:rPr lang="en-US" dirty="0">
                <a:solidFill>
                  <a:srgbClr val="00B050"/>
                </a:solidFill>
              </a:rPr>
              <a:t>the external behavior of the code yet improves the internal structure.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11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52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155"/>
    </mc:Choice>
    <mc:Fallback xmlns="">
      <p:transition spd="slow" advTm="5115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7886700" cy="838200"/>
          </a:xfrm>
        </p:spPr>
        <p:txBody>
          <a:bodyPr/>
          <a:lstStyle/>
          <a:p>
            <a:r>
              <a:rPr lang="en-US" dirty="0" smtClean="0"/>
              <a:t>Coding…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38200"/>
            <a:ext cx="7886700" cy="5638800"/>
          </a:xfrm>
        </p:spPr>
        <p:txBody>
          <a:bodyPr/>
          <a:lstStyle/>
          <a:p>
            <a:pPr lvl="0" algn="just"/>
            <a:r>
              <a:rPr lang="en-US" sz="2100" dirty="0">
                <a:solidFill>
                  <a:srgbClr val="FF0000"/>
                </a:solidFill>
              </a:rPr>
              <a:t>After stories are developed and preliminary design work is done, the </a:t>
            </a:r>
            <a:r>
              <a:rPr lang="en-US" sz="2100" dirty="0" smtClean="0">
                <a:solidFill>
                  <a:srgbClr val="FF0000"/>
                </a:solidFill>
              </a:rPr>
              <a:t>team does </a:t>
            </a:r>
            <a:r>
              <a:rPr lang="en-US" sz="2100" dirty="0">
                <a:solidFill>
                  <a:srgbClr val="FF0000"/>
                </a:solidFill>
              </a:rPr>
              <a:t>not move to code, but rather develops a series of unit tests that will exercise each of the stories that is to be included in the current release.</a:t>
            </a:r>
          </a:p>
          <a:p>
            <a:pPr lvl="0" algn="just"/>
            <a:r>
              <a:rPr lang="en-US" sz="2100" dirty="0" smtClean="0">
                <a:solidFill>
                  <a:srgbClr val="0070C0"/>
                </a:solidFill>
              </a:rPr>
              <a:t>Once </a:t>
            </a:r>
            <a:r>
              <a:rPr lang="en-US" sz="2100" dirty="0">
                <a:solidFill>
                  <a:srgbClr val="0070C0"/>
                </a:solidFill>
              </a:rPr>
              <a:t>the code is complete, it can be unit-tested immediately, thereby providing instantaneous feedback to the developers.</a:t>
            </a:r>
          </a:p>
          <a:p>
            <a:pPr lvl="0" algn="just"/>
            <a:r>
              <a:rPr lang="en-US" sz="2100" dirty="0"/>
              <a:t>A key concept during the coding activity is </a:t>
            </a:r>
            <a:r>
              <a:rPr lang="en-US" sz="2100" dirty="0">
                <a:solidFill>
                  <a:srgbClr val="00B050"/>
                </a:solidFill>
              </a:rPr>
              <a:t>pair programming. XP recommends that two people work together at one computer workstation to create code for a story. </a:t>
            </a:r>
          </a:p>
          <a:p>
            <a:pPr lvl="0" algn="just"/>
            <a:r>
              <a:rPr lang="en-US" sz="2100" dirty="0">
                <a:solidFill>
                  <a:srgbClr val="FF0000"/>
                </a:solidFill>
              </a:rPr>
              <a:t>One person might think about the </a:t>
            </a:r>
            <a:r>
              <a:rPr lang="en-US" sz="2100" b="1" dirty="0">
                <a:solidFill>
                  <a:srgbClr val="FF0000"/>
                </a:solidFill>
              </a:rPr>
              <a:t>coding details </a:t>
            </a:r>
            <a:r>
              <a:rPr lang="en-US" sz="2100" dirty="0">
                <a:solidFill>
                  <a:srgbClr val="FF0000"/>
                </a:solidFill>
              </a:rPr>
              <a:t>of a particular portion </a:t>
            </a:r>
            <a:r>
              <a:rPr lang="en-US" sz="2100" dirty="0" smtClean="0">
                <a:solidFill>
                  <a:srgbClr val="FF0000"/>
                </a:solidFill>
              </a:rPr>
              <a:t>of the </a:t>
            </a:r>
            <a:r>
              <a:rPr lang="en-US" sz="2100" dirty="0">
                <a:solidFill>
                  <a:srgbClr val="FF0000"/>
                </a:solidFill>
              </a:rPr>
              <a:t>design while the other ensures that </a:t>
            </a:r>
            <a:r>
              <a:rPr lang="en-US" sz="2100" b="1" dirty="0">
                <a:solidFill>
                  <a:srgbClr val="FF0000"/>
                </a:solidFill>
              </a:rPr>
              <a:t>coding standards </a:t>
            </a:r>
            <a:r>
              <a:rPr lang="en-US" sz="2100" dirty="0">
                <a:solidFill>
                  <a:srgbClr val="FF0000"/>
                </a:solidFill>
              </a:rPr>
              <a:t>are being followed or that the code for the story will satisfy the unit test that has been developed to validate the code against the story.</a:t>
            </a:r>
          </a:p>
          <a:p>
            <a:pPr lvl="0" algn="just"/>
            <a:r>
              <a:rPr lang="en-US" sz="2100" dirty="0">
                <a:solidFill>
                  <a:srgbClr val="00B050"/>
                </a:solidFill>
              </a:rPr>
              <a:t>As pair programmers complete their work, the code they develop is integrated with the work of others.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12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16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53"/>
    </mc:Choice>
    <mc:Fallback xmlns="">
      <p:transition spd="slow" advTm="68053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81000"/>
            <a:ext cx="7886700" cy="1325563"/>
          </a:xfrm>
        </p:spPr>
        <p:txBody>
          <a:bodyPr/>
          <a:lstStyle/>
          <a:p>
            <a:r>
              <a:rPr lang="en-US" dirty="0" smtClean="0"/>
              <a:t>Testing…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886700" cy="5562600"/>
          </a:xfrm>
        </p:spPr>
        <p:txBody>
          <a:bodyPr/>
          <a:lstStyle/>
          <a:p>
            <a:pPr lvl="0" algn="just"/>
            <a:r>
              <a:rPr lang="en-US" sz="2300" dirty="0">
                <a:solidFill>
                  <a:srgbClr val="FF0000"/>
                </a:solidFill>
              </a:rPr>
              <a:t>Creation of unit tests before coding commences is a key element of the XP approach. </a:t>
            </a:r>
          </a:p>
          <a:p>
            <a:pPr lvl="0" algn="just"/>
            <a:r>
              <a:rPr lang="en-US" sz="2300" dirty="0" smtClean="0">
                <a:solidFill>
                  <a:srgbClr val="0070C0"/>
                </a:solidFill>
              </a:rPr>
              <a:t>The unit tests that are created should be implemented using a framework that enables them to be automated.</a:t>
            </a:r>
          </a:p>
          <a:p>
            <a:pPr lvl="0" algn="just"/>
            <a:r>
              <a:rPr lang="en-US" sz="2300" dirty="0" smtClean="0">
                <a:solidFill>
                  <a:srgbClr val="00B050"/>
                </a:solidFill>
              </a:rPr>
              <a:t>This </a:t>
            </a:r>
            <a:r>
              <a:rPr lang="en-US" sz="2300" dirty="0">
                <a:solidFill>
                  <a:srgbClr val="00B050"/>
                </a:solidFill>
              </a:rPr>
              <a:t>encourages a regression testing strategy, whenever code is modified</a:t>
            </a:r>
          </a:p>
          <a:p>
            <a:pPr lvl="0" algn="just"/>
            <a:r>
              <a:rPr lang="en-US" sz="2300" dirty="0">
                <a:solidFill>
                  <a:srgbClr val="FF0000"/>
                </a:solidFill>
              </a:rPr>
              <a:t>Integration and validation testing of the system can occur on a daily basis. This provides the XP team with a continual indication of progress.</a:t>
            </a:r>
          </a:p>
          <a:p>
            <a:pPr lvl="0" algn="just"/>
            <a:r>
              <a:rPr lang="en-US" sz="2300" dirty="0"/>
              <a:t> </a:t>
            </a:r>
            <a:r>
              <a:rPr lang="en-US" sz="2300" dirty="0">
                <a:solidFill>
                  <a:srgbClr val="0070C0"/>
                </a:solidFill>
              </a:rPr>
              <a:t>XP acceptance tests, also called customer tests, are specified by the customer and focus on overall system features and functionality that are visible and reviewable by the customer. </a:t>
            </a:r>
          </a:p>
          <a:p>
            <a:pPr lvl="0" algn="just"/>
            <a:r>
              <a:rPr lang="en-US" sz="2300" dirty="0">
                <a:solidFill>
                  <a:srgbClr val="00B050"/>
                </a:solidFill>
              </a:rPr>
              <a:t>Acceptance tests are derived from user stories that have been </a:t>
            </a:r>
            <a:r>
              <a:rPr lang="en-US" sz="2300" dirty="0" smtClean="0">
                <a:solidFill>
                  <a:srgbClr val="00B050"/>
                </a:solidFill>
              </a:rPr>
              <a:t>implemented as </a:t>
            </a:r>
            <a:r>
              <a:rPr lang="en-US" sz="2300" dirty="0">
                <a:solidFill>
                  <a:srgbClr val="00B050"/>
                </a:solidFill>
              </a:rPr>
              <a:t>part of a software release.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solidFill>
                  <a:prstClr val="white"/>
                </a:solidFill>
              </a:rPr>
              <a:t> </a:t>
            </a: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>
                <a:solidFill>
                  <a:prstClr val="white"/>
                </a:solidFill>
              </a:rPr>
              <a:pPr>
                <a:defRPr/>
              </a:pPr>
              <a:t>13</a:t>
            </a:fld>
            <a:endParaRPr lang="en-GB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81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65"/>
    </mc:Choice>
    <mc:Fallback xmlns="">
      <p:transition spd="slow" advTm="8046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Roger </a:t>
            </a:r>
            <a:r>
              <a:rPr lang="en-US" dirty="0"/>
              <a:t>S. Pressman, Bruce.R.Maxim, “Software Engineering – A Practitioner’s Approach”, Eighth Edition, McGraw-Hill International Edition, New Delhi, </a:t>
            </a:r>
            <a:r>
              <a:rPr lang="en-US" dirty="0" smtClean="0"/>
              <a:t>2015</a:t>
            </a:r>
          </a:p>
          <a:p>
            <a:pPr lvl="0" algn="just"/>
            <a:r>
              <a:rPr lang="en-US" dirty="0"/>
              <a:t>Ian </a:t>
            </a:r>
            <a:r>
              <a:rPr lang="en-US" dirty="0" err="1"/>
              <a:t>Sommerville</a:t>
            </a:r>
            <a:r>
              <a:rPr lang="en-US" dirty="0"/>
              <a:t>, “Software engineering”, Tenth Edition, Pearson Education Asia, 2015.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23ITT302– Software Engineering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5D3F7-A063-44A6-86FA-D15607AE2097}" type="slidenum">
              <a:rPr lang="en-GB" altLang="en-US" smtClean="0"/>
              <a:pPr>
                <a:defRPr/>
              </a:pPr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809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"/>
    </mc:Choice>
    <mc:Fallback xmlns="">
      <p:transition spd="slow" advTm="39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ctrTitle" sz="quarter"/>
          </p:nvPr>
        </p:nvSpPr>
        <p:spPr>
          <a:xfrm>
            <a:off x="612775" y="1447800"/>
            <a:ext cx="7772400" cy="2438401"/>
          </a:xfrm>
        </p:spPr>
        <p:txBody>
          <a:bodyPr/>
          <a:lstStyle/>
          <a:p>
            <a:pPr eaLnBrk="1" hangingPunct="1"/>
            <a:r>
              <a:rPr lang="en-US" sz="3200" dirty="0" smtClean="0"/>
              <a:t>THANK YOU</a:t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3075" name="AutoShape 4" descr="Image result for animated gif images free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AutoShape 6" descr="Image result for animated gif images free download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077" name="AutoShape 8" descr="Image result for animated gif images free download"/>
          <p:cNvSpPr>
            <a:spLocks noChangeAspect="1" noChangeArrowheads="1"/>
          </p:cNvSpPr>
          <p:nvPr/>
        </p:nvSpPr>
        <p:spPr bwMode="auto"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078" name="AutoShape 10" descr="Image result for animated gif images free download"/>
          <p:cNvSpPr>
            <a:spLocks noChangeAspect="1" noChangeArrowheads="1"/>
          </p:cNvSpPr>
          <p:nvPr/>
        </p:nvSpPr>
        <p:spPr bwMode="auto">
          <a:xfrm>
            <a:off x="612775" y="3127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0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83"/>
    </mc:Choice>
    <mc:Fallback xmlns="">
      <p:transition spd="slow" advTm="7683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9534461EB75F448B5845C96F88536F" ma:contentTypeVersion="3" ma:contentTypeDescription="Create a new document." ma:contentTypeScope="" ma:versionID="2b0ecb5d618141198d6bae64414c1e97">
  <xsd:schema xmlns:xsd="http://www.w3.org/2001/XMLSchema" xmlns:xs="http://www.w3.org/2001/XMLSchema" xmlns:p="http://schemas.microsoft.com/office/2006/metadata/properties" xmlns:ns2="67971cbc-0fcb-4780-9b7d-e81453a3a2f8" targetNamespace="http://schemas.microsoft.com/office/2006/metadata/properties" ma:root="true" ma:fieldsID="394c491bd47efcf27bf4d950654e7400" ns2:_="">
    <xsd:import namespace="67971cbc-0fcb-4780-9b7d-e81453a3a2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71cbc-0fcb-4780-9b7d-e81453a3a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64DCAF-0250-4FBA-9FD4-2538B427F6F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BEB90A-C46B-492D-9A18-597992C1BA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B63C90-1855-4744-8EC3-3B9D01FF3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971cbc-0fcb-4780-9b7d-e81453a3a2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1192</Words>
  <Application>Microsoft Office PowerPoint</Application>
  <PresentationFormat>On-screen Show (4:3)</PresentationFormat>
  <Paragraphs>120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111</vt:lpstr>
      <vt:lpstr>Software Engineering  Module 1 -Extreme Programming</vt:lpstr>
      <vt:lpstr> Extreme Programming </vt:lpstr>
      <vt:lpstr>Extreme Programming</vt:lpstr>
      <vt:lpstr>Extreme Programming</vt:lpstr>
      <vt:lpstr>Extreme Programming</vt:lpstr>
      <vt:lpstr>Extreme Programming</vt:lpstr>
      <vt:lpstr>Planning…</vt:lpstr>
      <vt:lpstr>Planning…</vt:lpstr>
      <vt:lpstr>Planning…</vt:lpstr>
      <vt:lpstr>Design…</vt:lpstr>
      <vt:lpstr>Design…</vt:lpstr>
      <vt:lpstr>Coding…</vt:lpstr>
      <vt:lpstr>Testing…</vt:lpstr>
      <vt:lpstr>References: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Programming</dc:title>
  <dc:creator>admin</dc:creator>
  <cp:lastModifiedBy>Admin</cp:lastModifiedBy>
  <cp:revision>27</cp:revision>
  <dcterms:created xsi:type="dcterms:W3CDTF">2020-07-02T02:37:09Z</dcterms:created>
  <dcterms:modified xsi:type="dcterms:W3CDTF">2024-06-20T06:00:12Z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0x010100939534461EB75F448B5845C96F88536F</vt:lpwstr>
  </property>
</Properties>
</file>